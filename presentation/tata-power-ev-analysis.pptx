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5834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POWER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Charging Infrastructure Analysis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Profitability &amp; Expansion Strategy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E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District Analysis  |  Aug – Nov 2024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Datasets  •  114,000 Sessions  •  65 Stations  •  8,000 Customers  •  98 ROI Projects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Report  |  Milestone Project 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Scale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stations across 18 districts serving 8,000 customers with 390 charging plugs. 114,000 sessions generated ₹497 Lakh revenue over 3 months.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EF2F2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37760" y="109728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677-plug shortfall across the network. Jayanagar (79), Rajajinagar (73), and HSR Layout (70) are the most stressed districts needing immediate capacity expansion.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0FDF4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Opportunity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High-priority projects with avg 2.8yr payback and 93% ROI. AC Level-2 chargers dominate returns. DC Ultra-Fast (150kW) shows ~10yr payback — not viable in 5yr horizon.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292608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FF8E6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301752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income tiers charge equally often (~14 sessions/customer). Revenue gap driven by energy per visit, not frequency. Low-Mid is the largest segment (3,990) but lowest revenue/customer (₹4,109).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interconnected datasets forming a complete view of the EV charging ecosystem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162A3E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274320" cy="274320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1389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Sessions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645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114,000 rows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Session-level data with timestamps, energy, cost, station and customer IDs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162A3E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" y="2194560"/>
            <a:ext cx="274320" cy="274320"/>
          </a:xfrm>
          <a:prstGeom prst="ellipse">
            <a:avLst/>
          </a:prstGeom>
          <a:solidFill>
            <a:srgbClr val="007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88720" y="2075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Stations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331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stations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details: location, district, operator, plug count across 18 districts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162A3E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2880360"/>
            <a:ext cx="274320" cy="274320"/>
          </a:xfrm>
          <a:prstGeom prst="ellipse">
            <a:avLst/>
          </a:prstGeom>
          <a:solidFill>
            <a:srgbClr val="2ECB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88720" y="2761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017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 customers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profiles: income tier, car model, battery capacity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162A3E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1520" y="3566160"/>
            <a:ext cx="274320" cy="274320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88720" y="3447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703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districts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District-level projections: projected EVs, projected plugs, income tier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162A3E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1520" y="4251960"/>
            <a:ext cx="274320" cy="27432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88720" y="4133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Bengaluru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4389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projects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analysis: CAPEX, revenue, EBITDA, payback, 5yr ROI, priority tier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Tools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1051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3258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5 CSV files into Excel via Power Query. Validated all 114,000+ rows — zero missing values confirmed.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1031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relationships in Power Pivot Data Model: sessions→stations, sessions→customers, stations→districts. Created DAX measures.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2606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880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DAX measures created covering sessions, revenue, energy, utilization, customer metrics, and ROI calculations.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429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8016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6576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PivotCharts across 4 interactive dashboard pages with slicers for month, income tier, priority, and charger type filtering.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206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8016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44348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all dictionary formula claims (CAPEX, EBITDA, payback, ROI). Cross-checked join integrity across all tables.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1: Business and Usage Overview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0BB4E7-8B37-CE8F-7CB1-FEBC1AC5A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1520"/>
            <a:ext cx="9035716" cy="42643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Key 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162A3E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SESSIONS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114,000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91840" y="914400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162A3E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01568" y="960120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ENERGY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401568" y="117043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2,859,772 kWh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126480" y="914400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162A3E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36208" y="960120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36208" y="117043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₹497 Lakh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162A3E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1737360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66928" y="194767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291840" y="1691640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162A3E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01568" y="1737360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REV/SESSION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01568" y="194767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₹435.91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126480" y="1691640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162A3E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36208" y="1737360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KWH/SESSION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36208" y="194767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25.09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48640" y="2651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Answered: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3063240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2971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grew 48% from Aug to Oct (673K → 995K kWh). Nov is partial data (to 8th), not a decline.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474720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14400" y="3383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677-plug shortfall across the network — stations cannot handle projected demand.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3886200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3794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(39,931) and Morning (34,358) are peak charging windows — 65% of daily load.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297680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4400" y="4206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 holds ~20% market share with 13 of 65 stations.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2: Station Utilization and Operational Efficiency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BEE5B7-2FF1-EA03-6DEA-60071F945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805" y="731520"/>
            <a:ext cx="8686800" cy="41319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Key 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162A3E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SESSIONS/STATION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1,754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91840" y="914400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162A3E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01568" y="960120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SESSIONS/PLUG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401568" y="117043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126480" y="914400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162A3E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36208" y="960120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PLUGS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36208" y="117043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162A3E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1737360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KWH/STATION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66928" y="194767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43,996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291840" y="1691640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162A3E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01568" y="1737360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DENSITY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01568" y="194767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3.61/district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126480" y="1691640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162A3E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36208" y="1737360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36208" y="194767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48640" y="2651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Answered: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3063240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2971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overutilized stations identified — need capacity expansion (stations 7, 24, 51 lead).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474720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14400" y="3383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underutilized stations identified — need operational improvement (stations 8, 57, 72).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3886200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3794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Indiranagar, Rajajinagar, Jayanagar carry heaviest load across the network.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297680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4400" y="4206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plugs_count is uniform (6) per station — variation reflects session volume, not actual plug differences.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3: Customer and Demand Behavior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EE76B8-EAD1-545B-9BF6-C84C08B44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37" y="731520"/>
            <a:ext cx="8867274" cy="42479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— Key Findings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7680960" cy="16459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Income Tier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Customers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Sessions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Rev/Customer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Sess/Cust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EAEC7"/>
                          </a:solidFill>
                        </a:rPr>
                        <a:t>Low-Mid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3,990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56,958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₹164 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</a:rPr>
                        <a:t>₹4,109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14.28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EAEC7"/>
                          </a:solidFill>
                        </a:rPr>
                        <a:t>Mid-Range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2,820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40,059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₹179 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₹6,331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14.21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EAEC7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1,190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16,983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₹154 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CB71"/>
                          </a:solidFill>
                        </a:rPr>
                        <a:t>₹12,979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14.27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3108960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3017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income tiers charge with equal frequency (~14 sessions/customer). Revenue gap is energy-driven.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3474720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3383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Low-Mid: largest segment (3,990) but lowest rev/customer (₹4,109) — highest growth potential.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3840480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3749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tier: fewest customers (1,190) but 3x revenue per customer (₹12,979) — already captured.</a:t>
            </a:r>
            <a:endParaRPr lang="en-US" sz="1100" dirty="0"/>
          </a:p>
        </p:txBody>
      </p:sp>
      <p:sp>
        <p:nvSpPr>
          <p:cNvPr id="3" name="Shape 8"/>
          <p:cNvSpPr/>
          <p:nvPr/>
        </p:nvSpPr>
        <p:spPr>
          <a:xfrm>
            <a:off x="640080" y="4206240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4114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Two-wheelers (Ampere Nexus, Hero Optima) lead sessions; four-wheelers drive higher kWh/session.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4572000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4480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EV models account for ~59% of all sessions — Ampere Nexus leads with 7,635 sessions.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4: Financial Performance and Expansion Strategy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71B682-7462-BDCE-A6C4-362EA7844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97" y="783520"/>
            <a:ext cx="8765005" cy="41530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— Key 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920240" cy="594360"/>
          </a:xfrm>
          <a:prstGeom prst="roundRect">
            <a:avLst>
              <a:gd name="adj" fmla="val 9231"/>
            </a:avLst>
          </a:prstGeom>
          <a:solidFill>
            <a:srgbClr val="162A3E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PROJECTS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60320" y="914400"/>
            <a:ext cx="1920240" cy="594360"/>
          </a:xfrm>
          <a:prstGeom prst="roundRect">
            <a:avLst>
              <a:gd name="adj" fmla="val 9231"/>
            </a:avLst>
          </a:prstGeom>
          <a:solidFill>
            <a:srgbClr val="162A3E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51760" y="95097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CAPEX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651760" y="1143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₹13,922 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1920240" cy="594360"/>
          </a:xfrm>
          <a:prstGeom prst="roundRect">
            <a:avLst>
              <a:gd name="adj" fmla="val 9231"/>
            </a:avLst>
          </a:prstGeom>
          <a:solidFill>
            <a:srgbClr val="162A3E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95097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EBITDA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754880" y="1143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₹3,239 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66560" y="914400"/>
            <a:ext cx="1920240" cy="594360"/>
          </a:xfrm>
          <a:prstGeom prst="roundRect">
            <a:avLst>
              <a:gd name="adj" fmla="val 9231"/>
            </a:avLst>
          </a:prstGeom>
          <a:solidFill>
            <a:srgbClr val="162A3E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0" y="95097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5YR ROI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858000" y="1143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41.4%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1645920"/>
            <a:ext cx="1920240" cy="594360"/>
          </a:xfrm>
          <a:prstGeom prst="roundRect">
            <a:avLst>
              <a:gd name="adj" fmla="val 9231"/>
            </a:avLst>
          </a:prstGeom>
          <a:solidFill>
            <a:srgbClr val="162A3E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16824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(NO SUB)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4864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4.61 yrs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560320" y="1645920"/>
            <a:ext cx="1920240" cy="594360"/>
          </a:xfrm>
          <a:prstGeom prst="roundRect">
            <a:avLst>
              <a:gd name="adj" fmla="val 9231"/>
            </a:avLst>
          </a:prstGeom>
          <a:solidFill>
            <a:srgbClr val="162A3E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651760" y="16824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(W/ SUB)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65176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4.34 yrs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63440" y="1645920"/>
            <a:ext cx="1920240" cy="594360"/>
          </a:xfrm>
          <a:prstGeom prst="roundRect">
            <a:avLst>
              <a:gd name="adj" fmla="val 9231"/>
            </a:avLst>
          </a:prstGeom>
          <a:solidFill>
            <a:srgbClr val="162A3E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16824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EVs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75488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35,200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66560" y="1645920"/>
            <a:ext cx="1920240" cy="594360"/>
          </a:xfrm>
          <a:prstGeom prst="roundRect">
            <a:avLst>
              <a:gd name="adj" fmla="val 9231"/>
            </a:avLst>
          </a:prstGeom>
          <a:solidFill>
            <a:srgbClr val="162A3E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0" y="16824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GAP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85800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677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2926080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4400" y="2834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Level-2 chargers (7.4kW, 22kW): 2.5–3.1yr payback, 90%+ ROI — best investment choice.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3291840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14400" y="3200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Ultra-Fast (150kW): ~10yr payback even with subsidy — not viable at current utilization.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3657600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14400" y="3566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High-priority projects (55%) with avg 2.8yr payback and 93% ROI — immediate deployment targets.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4023360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14400" y="3931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gap districts (Jayanagar, Rajajinagar, HSR Layout, Indiranagar, Koramangala) = 53% of total gap.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4389120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14400" y="4297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subsidy reduces avg payback from 4.61 to 4.34 years — modest but helpful impact.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15568"/>
            <a:ext cx="365760" cy="365760"/>
          </a:xfrm>
          <a:prstGeom prst="ellipse">
            <a:avLst/>
          </a:prstGeom>
          <a:solidFill>
            <a:srgbClr val="2ECB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15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00584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AC Level-2 Expansion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25272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AC chargers (7.4kW and 22kW) in the top 5 gap districts. These offer 2.5–3yr payback with 90%+ ROI.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181051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DC Ultra-Fast Investment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05740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150kW chargers show ~10yr payback even with subsidy. Wait until utilization justifies the ₹60+ Lakh CAPEX per project.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569464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" y="2724912"/>
            <a:ext cx="365760" cy="365760"/>
          </a:xfrm>
          <a:prstGeom prst="ellipse">
            <a:avLst/>
          </a:prstGeom>
          <a:solidFill>
            <a:srgbClr val="007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724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2615184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Low-Mid Customer Segment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86207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3,990 customers generating only ₹4,109/each. Same visit frequency (14x) but lower energy/visit. Incentivize longer sessions.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374136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" y="3529584"/>
            <a:ext cx="365760" cy="365760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3419856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for Peak Hours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66674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and Morning = 65% of daily load. Deploy time-of-use pricing to shift demand to Evening/Night.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178808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0080" y="4334256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8720" y="422452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677-Plug Gap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447141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High-priority projects (₹4,980L CAPEX) would address the most critical gaps with avg 2.8yr payback.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POWER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Infrastructure — Conclusion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Deliverables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1719072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645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interactive dashboard pages: Business Overview, Station Utilization, Customer Behavior, Financial ROI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039112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965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DAX measures tracking every KPI specified in the project brief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359152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286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PivotCharts with dark navy professional theme across all pages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679192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2606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slicers: Month, Income Tier, Priority Tier, Charger Type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999232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2926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business questions answered with data-driven visualizations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319272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3246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data validation: zero missing values, all formulas verified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Bengaluru EV charging network is growing rapidly with strong ROI potential in AC infrastructure. Immediate action on the 677-plug gap in high-demand districts will capture market share ahead of the projected 35,200 EVs.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Report  |  Milestone Project 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POWER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200400" y="2651760"/>
            <a:ext cx="2743200" cy="36576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Suresh Deuja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Project 1  |  Tata Power EV Charging Infrastructure Analysis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1215</Words>
  <Application>Microsoft Office PowerPoint</Application>
  <PresentationFormat>On-screen Show (16:9)</PresentationFormat>
  <Paragraphs>189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Tata Power EV Charging Infrastructure - Dashboard Report</dc:title>
  <dc:subject>PptxGenJS Presentation</dc:subject>
  <dc:creator>Suresh Deuja</dc:creator>
  <cp:lastModifiedBy>Suresh Deuja</cp:lastModifiedBy>
  <cp:revision>3</cp:revision>
  <dcterms:created xsi:type="dcterms:W3CDTF">2026-07-07T05:10:47Z</dcterms:created>
  <dcterms:modified xsi:type="dcterms:W3CDTF">2026-07-07T05:14:58Z</dcterms:modified>
</cp:coreProperties>
</file>